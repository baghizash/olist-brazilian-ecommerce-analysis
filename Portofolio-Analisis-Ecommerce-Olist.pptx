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6400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33231C"/>
                </a:solidFill>
                <a:latin typeface="Liberation Serif"/>
              </a:rPr>
              <a:t>Analisis E-Commerce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A34A38"/>
                </a:solidFill>
                <a:latin typeface="Liberation Serif"/>
              </a:rPr>
              <a:t>Olist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60604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33231C"/>
                </a:solidFill>
                <a:latin typeface="Noto Sans"/>
              </a:rPr>
              <a:t>Revenue, kategori produk, pengiriman, seller, dan retensi dari 99.441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3231C"/>
                </a:solidFill>
                <a:latin typeface="Noto Sans"/>
              </a:rPr>
              <a:t>Brazilian Ecommerce Public Dataset by Olist, periode September 2016 sampai Agustus 2018, dianalisis dengan SQL dan Python.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34A38"/>
                </a:solidFill>
                <a:latin typeface="Noto Sans"/>
              </a:rPr>
              <a:t>BAGHIZ ASSHIDDIQIE ARASYA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85432" y="850392"/>
            <a:ext cx="4892040" cy="4160520"/>
          </a:xfrm>
          <a:prstGeom prst="roundRect">
            <a:avLst>
              <a:gd name="adj" fmla="val 5500"/>
            </a:avLst>
          </a:prstGeom>
          <a:solidFill>
            <a:srgbClr val="C9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12280" y="777240"/>
            <a:ext cx="4892040" cy="4160520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234440"/>
            <a:ext cx="40233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8F2E5"/>
                </a:solidFill>
                <a:latin typeface="Noto Sans"/>
              </a:rPr>
              <a:t>TOTAL REVENUE PRODUK (DELIVERED)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>
                <a:solidFill>
                  <a:srgbClr val="FFFFFF"/>
                </a:solidFill>
                <a:latin typeface="Noto Sans"/>
              </a:rPr>
              <a:t>13,22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Noto Sans"/>
              </a:rPr>
              <a:t>juta BRL dari 96.478 order delivered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8F2E5"/>
                </a:solidFill>
                <a:latin typeface="Noto Sans"/>
              </a:rPr>
              <a:t>Revenue tumbuh 82% dalam setahun, tetapi pemberi bintang 1 menunggu 21,3 hari, dua kali lipat pemberi bintang 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5230368"/>
            <a:ext cx="4892040" cy="713232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5358384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"/>
              </a:rPr>
              <a:t>Plus paket dashboard Power BI: star schema, DAX, panduan rakit.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Latar Belakang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6903720" cy="4206240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6903720" cy="420624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62179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Brazilian Ecommerce Public Dataset by Olist berisi 99.441 order dari 9 tabel relasional, periode September 2016 sampai Agustus 2018.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Analisis difokuskan pada order berstatus delivered dan menjawab 7 pertanyaan bisnis: revenue, kategori, pengiriman, seller, geografi, pembayaran, dan retensi.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Hasilnya adalah potret marketplace yang tumbuh cepat tetapi menyimpan tiga masalah: pengiriman lambat, retensi pelanggan rendah, dan konsentrasi pasar di satu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417320"/>
            <a:ext cx="3959352" cy="1207008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581912"/>
            <a:ext cx="338328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DE7A2D"/>
                </a:solidFill>
                <a:latin typeface="Noto Sans"/>
              </a:rPr>
              <a:t>99.441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3231C"/>
                </a:solidFill>
                <a:latin typeface="Noto Sans"/>
              </a:rPr>
              <a:t>order dari 9 tabel relasional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2770632"/>
            <a:ext cx="3959352" cy="1207008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935224"/>
            <a:ext cx="338328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DE7A2D"/>
                </a:solidFill>
                <a:latin typeface="Noto Sans"/>
              </a:rPr>
              <a:t>7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3231C"/>
                </a:solidFill>
                <a:latin typeface="Noto Sans"/>
              </a:rPr>
              <a:t>pertanyaan bisnis dijawab dalam analisis 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4123944"/>
            <a:ext cx="3959352" cy="1499616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4288536"/>
            <a:ext cx="338328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Noto Sans"/>
              </a:rPr>
              <a:t>+82%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8F2E5"/>
                </a:solidFill>
                <a:latin typeface="Noto Sans"/>
              </a:rPr>
              <a:t>pertumbuhan revenue bulanan, 2017 ke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7A6C"/>
                </a:solidFill>
                <a:latin typeface="Noto Sans"/>
              </a:rPr>
              <a:t>Sumber data: Brazilian Ecommerce Public Dataset by Olist (Kaggle, lisensi CC BY-NC-SA 4.0).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Data dan Metodologi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291840" cy="2011680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2697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Noto Sans"/>
              </a:rPr>
              <a:t>96.478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8F2E5"/>
                </a:solidFill>
                <a:latin typeface="Noto Sans"/>
              </a:rPr>
              <a:t>order delivered menjadi fokus analisis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3291840" cy="201168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2697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DE7A2D"/>
                </a:solidFill>
                <a:latin typeface="Noto Sans"/>
              </a:rPr>
              <a:t>13,22 jt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3231C"/>
                </a:solidFill>
                <a:latin typeface="Noto Sans"/>
              </a:rPr>
              <a:t>BRL revenue produk; pembayaran termasuk ongkir 15,42 jt BRL tidak dipakai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78808" y="1481328"/>
            <a:ext cx="7571231" cy="4206240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1417320"/>
            <a:ext cx="7571231" cy="420624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755648"/>
            <a:ext cx="685800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33231C"/>
                </a:solidFill>
                <a:latin typeface="Noto Sans"/>
              </a:rPr>
              <a:t>File CSV dari 9 tabel relasional dimuat ke SQLite; analisis memakai query SQL dengan JOIN antar tabel dan pandas untuk agregasi lanjutan.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33231C"/>
                </a:solidFill>
                <a:latin typeface="Noto Sans"/>
              </a:rPr>
              <a:t>Revenue didefinisikan sebagai total harga barang TANPA ongkos kirim, hanya dari order berstatus delivered. Angka pembayaran (payment_value) lebih besar karena memuat ongkir, dan sengaja tidak dipakai sebagai revenue.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33231C"/>
                </a:solidFill>
                <a:latin typeface="Noto Sans"/>
              </a:rPr>
              <a:t>Bad review didefinisikan sebagai ulasan dengan skor 1 atau 2 dari 5. Setiap angka di deck ini menyebut konteks statusnya agar tidak tertukar.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Temuan 1: Tren Revenue Terus Tumbuh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4572000" cy="1783080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39776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Noto Sans"/>
              </a:rPr>
              <a:t>+82%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8F2E5"/>
                </a:solidFill>
                <a:latin typeface="Noto Sans"/>
              </a:rPr>
              <a:t>pertumbuhan rata-rata revenue bulanan, 2017 ke Jan-Agu 2018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29000"/>
            <a:ext cx="45720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33231C"/>
                </a:solidFill>
                <a:latin typeface="Noto Sans"/>
              </a:rPr>
              <a:t>Total revenue produk mencapai 13,22 juta BRL dari 96.478 order delivered selama 23 bulan.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33231C"/>
                </a:solidFill>
                <a:latin typeface="Noto Sans"/>
              </a:rPr>
              <a:t>Rata-rata revenue bulanan naik dari 0,50 juta BRL pada 2017 menjadi 0,90 juta BRL pada Januari-Agustus 2018.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33231C"/>
                </a:solidFill>
                <a:latin typeface="Noto Sans"/>
              </a:rPr>
              <a:t>Puncak terjadi pada November 2017: 0,99 juta BRL dari 7.289 order, menunjukkan pola musiman akhir tahun yang kuat.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58968" y="1481328"/>
            <a:ext cx="6291072" cy="4206240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94960" y="1417320"/>
            <a:ext cx="6291072" cy="420624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tren_revenue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753819"/>
            <a:ext cx="5888736" cy="35332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4960" y="5714999"/>
            <a:ext cx="6291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7A6C"/>
                </a:solidFill>
                <a:latin typeface="Noto Sans"/>
              </a:rPr>
              <a:t>Chart: tren revenue dan jumlah order bulanan.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Temuan 2: Kinerja Kategori Produk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top10_kategori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62048"/>
            <a:ext cx="471830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029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7A6C"/>
                </a:solidFill>
                <a:latin typeface="Noto Sans"/>
              </a:rPr>
              <a:t>Chart: 10 kategori dengan revenue terbesar.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481328"/>
            <a:ext cx="57150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Dari 73 kategori, health beauty memimpin revenue: 1,23 juta BRL atau 9,4% dari total. Kategori terkecil, insurance services, hanya 283 BRL dari 2 order.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Bad review rate tertinggi ada di mens fashion: 22,9% dengan skor rata-rata 3,8. Skor ulasan tertinggi: general interest books (4,5).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Konsentrasi revenue pada kategori kesehatan dan kecantikan membuat performa platform sensitif pada sedikit kategori besar.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93792"/>
            <a:ext cx="11183112" cy="932688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34A38"/>
                </a:solidFill>
                <a:latin typeface="Noto Sans"/>
              </a:rPr>
              <a:t>Health beauty: 1,23 juta BRL, 9,4% dari total revenue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Temuan 3: Pengiriman Pendorong Review Buruk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526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Sebanyak 8,1% order tiba melewati estimasi, dengan waktu kirim rata-rata 12,6 hari (median 10,2 hari).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Pemberi bintang 1 menunggu rata-rata 21,3 hari, hampir dua kali lipat pemberi bintang 5 yang hanya 10,7 hari.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Polanya konsisten: semakin lama waktu kirim, semakin rendah skor ulasan. Kecepatan pengiriman adalah tuas kepuasan yang paling terlihat.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846320"/>
            <a:ext cx="4526280" cy="1170432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10912"/>
            <a:ext cx="402336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Noto Sans"/>
              </a:rPr>
              <a:t>21,3 hari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8F2E5"/>
                </a:solidFill>
                <a:latin typeface="Noto Sans"/>
              </a:rPr>
              <a:t>rata-rata tunggu pemberi bintang 1, vs 10,7 hari bintang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13248" y="1481328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49240" y="1417320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waktu_kirim_per_sk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1625803"/>
            <a:ext cx="5934455" cy="35606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486399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7A6C"/>
                </a:solidFill>
                <a:latin typeface="Noto Sans"/>
              </a:rPr>
              <a:t>Chart: rata-rata waktu kirim per skor ulasan.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Temuan 4: Masalah Platform, Bukan Segelintir Seller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konsentrasi_bad_review_sel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62048"/>
            <a:ext cx="471830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029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7A6C"/>
                </a:solidFill>
                <a:latin typeface="Noto Sans"/>
              </a:rPr>
              <a:t>Chart: konsentrasi bad review di antara seller.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481328"/>
            <a:ext cx="57150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Dari 2.965 seller, 350 seller memiliki bad review rate di atas 30%, tetapi hanya menampung 9,7% dari seluruh bad review.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Bahkan 10 seller terburuk hanya menampung 15,6% bad review: masalahnya tersebar di seluruh platform, bukan ulah segelintir penjual.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Geografi juga terkonsentrasi: Sao Paulo mencatat 40.501 order atau 42,0% dari order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93792"/>
            <a:ext cx="11183112" cy="932688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34A38"/>
                </a:solidFill>
                <a:latin typeface="Noto Sans"/>
              </a:rPr>
              <a:t>10 seller terburuk hanya menampung 15,6% bad review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Temuan 5: Cicilan Dominan, Retensi Rendah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526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Kartu kredit dipakai di 75,4% order, boleto 19,9%. Sebanyak 51,5% order memakai cicilan lebih dari 1 kali; rata-rata cicilan kartu kredit 3,6 kali dibanding boleto 1,0 kali.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Dari 96.096 pelanggan unik, repeat purchase rate hanya 3,1%: hampir semua pelanggan membeli satu kali lalu hilang.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33231C"/>
                </a:solidFill>
                <a:latin typeface="Noto Sans"/>
              </a:rPr>
              <a:t>Retensi kohor 90 hari stagnan di 1,1-1,5%: pertumbuhan revenue datang dari pelanggan baru, bukan pembelian ulang.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846320"/>
            <a:ext cx="4526280" cy="1170432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10912"/>
            <a:ext cx="402336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Noto Sans"/>
              </a:rPr>
              <a:t>3,1%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8F2E5"/>
                </a:solidFill>
                <a:latin typeface="Noto Sans"/>
              </a:rPr>
              <a:t>repeat purchase rate dari 96.096 pelanggan unik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13248" y="1481328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49240" y="1417320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tipe_pembaya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1625803"/>
            <a:ext cx="5934455" cy="35606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486399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7A6C"/>
                </a:solidFill>
                <a:latin typeface="Noto Sans"/>
              </a:rPr>
              <a:t>Chart: distribusi tipe pembayaran.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Dashboard Power BI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6903720" cy="4160520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6903720" cy="416052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preview_halama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669065"/>
            <a:ext cx="6501383" cy="36570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69279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7A6C"/>
                </a:solidFill>
                <a:latin typeface="Noto Sans"/>
              </a:rPr>
              <a:t>Pratinjau halaman 1 dashboard, dirender dari kit Power BI proyek 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417320"/>
            <a:ext cx="3959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34A38"/>
                </a:solidFill>
                <a:latin typeface="Noto Sans"/>
              </a:rPr>
              <a:t>ISI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10512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3568" y="1901952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DE7A2D"/>
                </a:solidFill>
                <a:latin typeface="Noto Sans"/>
              </a:rPr>
              <a:t>Halaman 1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3231C"/>
                </a:solidFill>
                <a:latin typeface="Noto Sans"/>
              </a:rPr>
              <a:t>Ringkasan Eksekutif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651760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743200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DE7A2D"/>
                </a:solidFill>
                <a:latin typeface="Noto Sans"/>
              </a:rPr>
              <a:t>Halaman 2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3231C"/>
                </a:solidFill>
                <a:latin typeface="Noto Sans"/>
              </a:rPr>
              <a:t>Kategori Produk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493008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584448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DE7A2D"/>
                </a:solidFill>
                <a:latin typeface="Noto Sans"/>
              </a:rPr>
              <a:t>Halaman 3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3231C"/>
                </a:solidFill>
                <a:latin typeface="Noto Sans"/>
              </a:rPr>
              <a:t>Pengiriman dan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4334256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25696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DE7A2D"/>
                </a:solidFill>
                <a:latin typeface="Noto Sans"/>
              </a:rPr>
              <a:t>Halaman 4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3231C"/>
                </a:solidFill>
                <a:latin typeface="Noto Sans"/>
              </a:rPr>
              <a:t>Geografi, Retensi, dan Metodologi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5212080"/>
            <a:ext cx="39593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231C"/>
                </a:solidFill>
                <a:latin typeface="Noto Sans"/>
              </a:rPr>
              <a:t>Dua tabel fakta terpisah per grain (pesanan dan item); revenue produk tidak pernah dicampur dengan pembayaran termasuk ongkir.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961888"/>
            <a:ext cx="11183112" cy="603504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961888"/>
            <a:ext cx="106984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"/>
              </a:rPr>
              <a:t>Olist-Ecommerce-Analysis.pbix</a:t>
            </a:r>
            <a:r>
              <a:rPr sz="1250" b="0">
                <a:solidFill>
                  <a:srgbClr val="F8F2E5"/>
                </a:solidFill>
                <a:latin typeface="Noto Sans"/>
              </a:rPr>
              <a:t>: star schema, measure DAX terverifikasi, layout 4 halaman, dan panduan rakit ada di folder powerbi pada repo ini.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33231C"/>
                </a:solidFill>
                <a:latin typeface="Liberation Serif"/>
              </a:rPr>
              <a:t>Penutup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35608"/>
            <a:ext cx="6720840" cy="3246120"/>
          </a:xfrm>
          <a:prstGeom prst="roundRect">
            <a:avLst>
              <a:gd name="adj" fmla="val 5500"/>
            </a:avLst>
          </a:prstGeom>
          <a:solidFill>
            <a:srgbClr val="E2D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6720840" cy="3246120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60350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A34A38"/>
                </a:solidFill>
                <a:latin typeface="Liberation Serif"/>
              </a:rPr>
              <a:t>Kesimpulan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231C"/>
                </a:solidFill>
                <a:latin typeface="Noto Sans"/>
              </a:rPr>
              <a:t>Revenue tumbuh 82% dalam setahun, namun pertumbuhan dibayangi pengiriman lambat, retensi hanya 3,1%, dan konsentrasi 42,0% order di Sao Paulo.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71600"/>
            <a:ext cx="4142232" cy="1536192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572768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Liberation Serif"/>
              </a:rPr>
              <a:t>Rekomendasi utama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2E5"/>
                </a:solidFill>
                <a:latin typeface="Noto Sans"/>
              </a:rPr>
              <a:t>Perbaiki SLA pengiriman kategori bulky dan fashion; bangun program retensi pelanggan; diversifikasi pasar di luar Sao Paulo; dorong cicilan kartu kredit.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081528"/>
            <a:ext cx="4142232" cy="1536192"/>
          </a:xfrm>
          <a:prstGeom prst="roundRect">
            <a:avLst>
              <a:gd name="adj" fmla="val 5500"/>
            </a:avLst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282696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34A38"/>
                </a:solidFill>
                <a:latin typeface="Liberation Serif"/>
              </a:rPr>
              <a:t>Terbuka untuk direproduksi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231C"/>
                </a:solidFill>
                <a:latin typeface="Noto Sans"/>
              </a:rPr>
              <a:t>Notebook analisis, query SQL JOIN antar 9 tabel, dan definisi metrik terbuka di repo untuk dihitung ulang.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83112" cy="1463040"/>
          </a:xfrm>
          <a:prstGeom prst="roundRect">
            <a:avLst>
              <a:gd name="adj" fmla="val 5500"/>
            </a:avLst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Noto Sans"/>
              </a:rPr>
              <a:t>BAGHIZ ASSHIDDIQIE ARASYA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8F2E5"/>
                </a:solidFill>
                <a:latin typeface="Noto Sans"/>
              </a:rPr>
              <a:t>github.com/baghizash/olist-brazilian-ecommerce-analysis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5321808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8F2E5"/>
                </a:solidFill>
                <a:latin typeface="Noto Sans"/>
              </a:rPr>
              <a:t>Terima kasih. Silakan jelajahi repo dan dashboardnya, semua angka terbuka untuk dicek ulang.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