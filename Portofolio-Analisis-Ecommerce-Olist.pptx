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82127" y="1371600"/>
            <a:ext cx="502920" cy="82296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82127" y="1783080"/>
            <a:ext cx="3931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0" b="1" i="0">
                <a:solidFill>
                  <a:srgbClr val="FFFFFF"/>
                </a:solidFill>
                <a:latin typeface="Noto Sans"/>
              </a:rPr>
              <a:t>13,22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3520440"/>
            <a:ext cx="3931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400" b="1" i="0">
                <a:solidFill>
                  <a:srgbClr val="F1E9DA"/>
                </a:solidFill>
                <a:latin typeface="Noto Sans"/>
              </a:rPr>
              <a:t>juta BRL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E8DCC8"/>
                </a:solidFill>
                <a:latin typeface="Noto Sans"/>
              </a:rPr>
              <a:t>total revenue dari 96.478 order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4000" b="1" i="0">
                <a:solidFill>
                  <a:srgbClr val="33231C"/>
                </a:solidFill>
                <a:latin typeface="Liberation Serif"/>
              </a:rPr>
              <a:t>Analisis Ecommerce Brazil dengan SQL dan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0" i="0">
                <a:solidFill>
                  <a:srgbClr val="6E5B4D"/>
                </a:solidFill>
                <a:latin typeface="Noto Sans"/>
              </a:rPr>
              <a:t>Studi Kasus: Brazilian Ecommerce Public Dataset by Olist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074920"/>
            <a:ext cx="1371600" cy="6400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A34A38"/>
                </a:solidFill>
                <a:latin typeface="Noto Sans"/>
              </a:rPr>
              <a:t>BAGHIZ ASSHIDDIQIE ARASYA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E5B4D"/>
                </a:solidFill>
                <a:latin typeface="Noto Sans"/>
              </a:rPr>
              <a:t>Data Analyst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200" b="1" i="0">
                <a:solidFill>
                  <a:srgbClr val="33231C"/>
                </a:solidFill>
                <a:latin typeface="Liberation Serif"/>
              </a:rPr>
              <a:t>Latar Belakang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25296"/>
            <a:ext cx="1371600" cy="6400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2237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650" b="0" i="0">
                <a:solidFill>
                  <a:srgbClr val="33231C"/>
                </a:solidFill>
                <a:latin typeface="Noto Sans"/>
              </a:rPr>
              <a:t>Brazilian Ecommerce Public Dataset by Olist: 99.441 order dari 9 tabel relasional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650" b="0" i="0">
                <a:solidFill>
                  <a:srgbClr val="33231C"/>
                </a:solidFill>
                <a:latin typeface="Noto Sans"/>
              </a:rPr>
              <a:t>Periode data September 2016 sampai Agustus 2018, fokus analisis pada order dengan status delivered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650" b="0" i="0">
                <a:solidFill>
                  <a:srgbClr val="33231C"/>
                </a:solidFill>
                <a:latin typeface="Noto Sans"/>
              </a:rPr>
              <a:t>Tujuan: menjawab 7 pertanyaan bisnis seputar revenue, kategori, pengiriman, seller, geografi, pembayaran, dan retensi pelanggan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650" b="0" i="0">
                <a:solidFill>
                  <a:srgbClr val="33231C"/>
                </a:solidFill>
                <a:latin typeface="Noto Sans"/>
              </a:rPr>
              <a:t>Hasil akhir: rekomendasi bisnis berbasis bukti untuk pertumbuhan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183879" y="1600200"/>
            <a:ext cx="3364992" cy="443484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83879" y="1600200"/>
            <a:ext cx="3364992" cy="82296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92024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400" b="1" i="0">
                <a:solidFill>
                  <a:srgbClr val="A34A38"/>
                </a:solidFill>
                <a:latin typeface="Noto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154680"/>
            <a:ext cx="27432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33231C"/>
                </a:solidFill>
                <a:latin typeface="Noto Sans"/>
              </a:rPr>
              <a:t>pertanyaan bisnis dijawab dalam analisis ini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99.441 order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9 tabel relasional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Fokus: order delivered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200" b="1" i="0">
                <a:solidFill>
                  <a:srgbClr val="33231C"/>
                </a:solidFill>
                <a:latin typeface="Liberation Serif"/>
              </a:rPr>
              <a:t>Data dan Metodologi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25296"/>
            <a:ext cx="1371600" cy="6400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69037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650" b="0" i="0">
                <a:solidFill>
                  <a:srgbClr val="33231C"/>
                </a:solidFill>
                <a:latin typeface="Noto Sans"/>
              </a:rPr>
              <a:t>File CSV dimuat ke SQLite, lalu dianalisis dengan query SQL berisi JOIN antar tabel dan pandas untuk agregasi lanjutan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650" b="0" i="0">
                <a:solidFill>
                  <a:srgbClr val="33231C"/>
                </a:solidFill>
                <a:latin typeface="Noto Sans"/>
              </a:rPr>
              <a:t>Revenue didefinisikan sebagai total harga barang tanpa ongkos kirim, dihitung hanya dari order berstatus delivered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650" b="0" i="0">
                <a:solidFill>
                  <a:srgbClr val="33231C"/>
                </a:solidFill>
                <a:latin typeface="Noto Sans"/>
              </a:rPr>
              <a:t>Bad review didefinisikan sebagai ulasan dengan skor 1 atau 2 dari skala 1 sampai 5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650" b="0" i="0">
                <a:solidFill>
                  <a:srgbClr val="33231C"/>
                </a:solidFill>
                <a:latin typeface="Noto Sans"/>
              </a:rPr>
              <a:t>Repeat purchase rate adalah persentase pelanggan unik yang berbelanja lebih dari satu kali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554480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33231C"/>
                </a:solidFill>
                <a:latin typeface="Liberation Serif"/>
              </a:rPr>
              <a:t>Alur Analisis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2103120"/>
            <a:ext cx="3685032" cy="658368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0" y="2103120"/>
            <a:ext cx="82296" cy="65836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27685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50" b="1" i="0">
                <a:solidFill>
                  <a:srgbClr val="33231C"/>
                </a:solidFill>
                <a:latin typeface="Noto Sans"/>
              </a:rPr>
              <a:t>File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779776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E7A2D"/>
                </a:solidFill>
                <a:latin typeface="Noto Sans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072384"/>
            <a:ext cx="3685032" cy="658368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3072384"/>
            <a:ext cx="82296" cy="65836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50" b="1" i="0">
                <a:solidFill>
                  <a:srgbClr val="33231C"/>
                </a:solidFill>
                <a:latin typeface="Noto Sans"/>
              </a:rPr>
              <a:t>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749039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E7A2D"/>
                </a:solidFill>
                <a:latin typeface="Noto Sans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4041648"/>
            <a:ext cx="3685032" cy="658368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4041648"/>
            <a:ext cx="82296" cy="65836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2153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50" b="1" i="0">
                <a:solidFill>
                  <a:srgbClr val="33231C"/>
                </a:solidFill>
                <a:latin typeface="Noto Sans"/>
              </a:rPr>
              <a:t>Query SQL dan pandas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718304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E7A2D"/>
                </a:solidFill>
                <a:latin typeface="Noto Sans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5010912"/>
            <a:ext cx="3685032" cy="658368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5010912"/>
            <a:ext cx="82296" cy="65836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518464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50" b="1" i="0">
                <a:solidFill>
                  <a:srgbClr val="33231C"/>
                </a:solidFill>
                <a:latin typeface="Noto Sans"/>
              </a:rPr>
              <a:t>Rekomendasi berbasis bukti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200" b="1" i="0">
                <a:solidFill>
                  <a:srgbClr val="33231C"/>
                </a:solidFill>
                <a:latin typeface="Liberation Serif"/>
              </a:rPr>
              <a:t>Temuan 1: Tren Revenue Terus Tumbuh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25296"/>
            <a:ext cx="1371600" cy="6400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4114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5200" b="1" i="0">
                <a:solidFill>
                  <a:srgbClr val="A34A38"/>
                </a:solidFill>
                <a:latin typeface="Noto Sans"/>
              </a:rPr>
              <a:t>+82%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87168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E5B4D"/>
                </a:solidFill>
                <a:latin typeface="Noto Sans"/>
              </a:rPr>
              <a:t>pertumbuhan rata rata revenue bulanan, 2017 ke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4114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450" b="0" i="0">
                <a:solidFill>
                  <a:srgbClr val="33231C"/>
                </a:solidFill>
                <a:latin typeface="Noto Sans"/>
              </a:rPr>
              <a:t>Total revenue 13.22 juta BRL dari 96.478 order delivered selama 23 bulan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450" b="0" i="0">
                <a:solidFill>
                  <a:srgbClr val="33231C"/>
                </a:solidFill>
                <a:latin typeface="Noto Sans"/>
              </a:rPr>
              <a:t>Rata rata revenue bulanan naik dari 0.50 juta BRL pada 2017 menjadi 0.90 juta BRL pada Januari sampai Agustus 2018, tumbuh 82 persen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450" b="0" i="0">
                <a:solidFill>
                  <a:srgbClr val="33231C"/>
                </a:solidFill>
                <a:latin typeface="Noto Sans"/>
              </a:rPr>
              <a:t>Puncak terjadi pada November 2017 dengan 0.99 juta BRL dan 7.289 order; pada November 2016 belum ada order sama sekali</a:t>
            </a:r>
          </a:p>
        </p:txBody>
      </p:sp>
      <p:pic>
        <p:nvPicPr>
          <p:cNvPr id="7" name="Picture 6" descr="01_tren_revenue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81328"/>
            <a:ext cx="6519672" cy="39118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5502859"/>
            <a:ext cx="6519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E5B4D"/>
                </a:solidFill>
                <a:latin typeface="Noto Sans"/>
              </a:rPr>
              <a:t>Tren revenue dan jumlah order bulanan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200" b="1" i="0">
                <a:solidFill>
                  <a:srgbClr val="33231C"/>
                </a:solidFill>
                <a:latin typeface="Liberation Serif"/>
              </a:rPr>
              <a:t>Temuan 2: Kinerja Kategori Produk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25296"/>
            <a:ext cx="1371600" cy="6400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kategori_skor_vs_bad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309360" cy="3785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49824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E5B4D"/>
                </a:solidFill>
                <a:latin typeface="Noto Sans"/>
              </a:rPr>
              <a:t>Skor ulasan dan bad review rate per kategori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600200"/>
            <a:ext cx="4279392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Dari 73 kategori, health beauty memimpin revenue 1.23 juta BRL atau 9.4 persen dari total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Kategori terkecil insurance services hanya 283 BRL dari 2 order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Bad review rate tertinggi ada di mens fashion: 22.9 persen dengan skor rata rata 3.8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Skor ulasan tertinggi general interest books 4.5, terendah office furniture 3.6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200" b="1" i="0">
                <a:solidFill>
                  <a:srgbClr val="33231C"/>
                </a:solidFill>
                <a:latin typeface="Liberation Serif"/>
              </a:rPr>
              <a:t>Temuan 3: Pengiriman Pendorong Review Buruk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25296"/>
            <a:ext cx="1371600" cy="6400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Sebesar 8.1 persen order tiba melewati estimasi, dengan waktu kirim rata rata 12.6 hari dan median 10.2 hari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Pelanggan pemberi bintang 1 menunggu 21.3 hari, hampir dua kali lipat dibanding pemberi bintang 5 yang hanya 10.7 hari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Pola ini konsisten: semakin lama waktu kirim, semakin rendah skor ulasan yang diberikan</a:t>
            </a:r>
          </a:p>
        </p:txBody>
      </p:sp>
      <p:pic>
        <p:nvPicPr>
          <p:cNvPr id="5" name="Picture 4" descr="06_waktu_kirim_per_sk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81328"/>
            <a:ext cx="5239512" cy="31437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4716475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E5B4D"/>
                </a:solidFill>
                <a:latin typeface="Noto Sans"/>
              </a:rPr>
              <a:t>Rata rata waktu kirim per skor ulasan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047488"/>
            <a:ext cx="10908792" cy="137160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047488"/>
            <a:ext cx="10908792" cy="6400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321808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800" b="1" i="0">
                <a:solidFill>
                  <a:srgbClr val="A34A38"/>
                </a:solidFill>
                <a:latin typeface="Noto Sans"/>
              </a:rPr>
              <a:t>21,3 hari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E5B4D"/>
                </a:solidFill>
                <a:latin typeface="Noto Sans"/>
              </a:rPr>
              <a:t>rata rata tunggu pelanggan bintang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5367528"/>
            <a:ext cx="27432" cy="777240"/>
          </a:xfrm>
          <a:prstGeom prst="rect">
            <a:avLst/>
          </a:prstGeom>
          <a:solidFill>
            <a:srgbClr val="C9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5321808"/>
            <a:ext cx="4754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800" b="1" i="0">
                <a:solidFill>
                  <a:srgbClr val="A34A38"/>
                </a:solidFill>
                <a:latin typeface="Noto Sans"/>
              </a:rPr>
              <a:t>10,7 hari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E5B4D"/>
                </a:solidFill>
                <a:latin typeface="Noto Sans"/>
              </a:rPr>
              <a:t>rata rata tunggu pelanggan bintang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200" b="1" i="0">
                <a:solidFill>
                  <a:srgbClr val="33231C"/>
                </a:solidFill>
                <a:latin typeface="Liberation Serif"/>
              </a:rPr>
              <a:t>Temuan 4: Masalah Platform, Bukan Segelintir Seller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25296"/>
            <a:ext cx="1371600" cy="6400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6692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Dari 2.965 seller, 350 seller memiliki bad review rate di atas 30 persen namun hanya menampung 9.7 persen dari seluruh bad review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Bahkan 10 seller terburuk hanya menampung 15.6 persen bad review: masalah tersebar di seluruh platform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Geografi sangat terkonsentrasi: Sao Paulo mencatat 40.501 order atau 42.0 persen, dengan revenue 5.07 juta BRL atau 38.3 persen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Kota dengan order terbanyak adalah sao paulo dengan 15.045 order</a:t>
            </a:r>
          </a:p>
        </p:txBody>
      </p:sp>
      <p:pic>
        <p:nvPicPr>
          <p:cNvPr id="5" name="Picture 4" descr="09_konsentrasi_bad_review_se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965192" cy="2979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4643323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E5B4D"/>
                </a:solidFill>
                <a:latin typeface="Noto Sans"/>
              </a:rPr>
              <a:t>Konsentrasi bad review di antara seller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200" b="1" i="0">
                <a:solidFill>
                  <a:srgbClr val="33231C"/>
                </a:solidFill>
                <a:latin typeface="Liberation Serif"/>
              </a:rPr>
              <a:t>Temuan 5: Cicilan Dominan, Retensi Rendah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25296"/>
            <a:ext cx="1371600" cy="6400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tipe_pembaya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394960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38344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0" i="1">
                <a:solidFill>
                  <a:srgbClr val="6E5B4D"/>
                </a:solidFill>
                <a:latin typeface="Noto Sans"/>
              </a:rPr>
              <a:t>Distribusi tipe pembayaran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517904"/>
            <a:ext cx="519379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600" b="1" i="0">
                <a:solidFill>
                  <a:srgbClr val="A34A38"/>
                </a:solidFill>
                <a:latin typeface="Noto Sans"/>
              </a:rPr>
              <a:t>3,1%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450592"/>
            <a:ext cx="51937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6E5B4D"/>
                </a:solidFill>
                <a:latin typeface="Noto Sans"/>
              </a:rPr>
              <a:t>repeat purchase rate dari 96.096 pelanggan unik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971800"/>
            <a:ext cx="519379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Kartu kredit dipakai di 75.4 persen order, boleto di 19.9 persen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Sebanyak 51.5 persen order memakai cicilan lebih dari 1 kali; rata rata cicilan kartu kredit 3.6 kali dibanding boleto 1.0 kali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Dari 96.096 pelanggan unik, repeat purchase rate hanya 3.1 persen</a:t>
            </a:r>
          </a:p>
          <a:p>
            <a:pPr marL="171450" indent="-171450">
              <a:lnSpc>
                <a:spcPct val="112000"/>
              </a:lnSpc>
              <a:spcAft>
                <a:spcPts val="1200"/>
              </a:spcAft>
              <a:buChar char="•"/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Retensi kohor 90 hari stabil di 1.1 sampai 1.5 persen tanpa tren perbaikan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200" b="1" i="0">
                <a:solidFill>
                  <a:srgbClr val="33231C"/>
                </a:solidFill>
                <a:latin typeface="Liberation Serif"/>
              </a:rPr>
              <a:t>Rekomendasi Bisnis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25296"/>
            <a:ext cx="1371600" cy="6400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285232" cy="224028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2296" cy="224028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2880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Perbaiki SLA pengiriman untuk kategori bulky dan fashion seperti office furniture dan mens fashion, karena keterlambatan adalah pendorong utama review buruk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554480"/>
            <a:ext cx="5285232" cy="224028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554480"/>
            <a:ext cx="82296" cy="224028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82880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Bangun program retensi pelanggan: repeat purchase hanya 3.1 persen dan retensi kohor stagnan di 1.1 sampai 1.5 persen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5285232" cy="224028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77639"/>
            <a:ext cx="82296" cy="224028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251959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Diversifikasi pasar di luar Sao Paulo yang kini menampung 42.0 persen order, untuk mengurangi risiko konsentrasi geografis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977639"/>
            <a:ext cx="5285232" cy="224028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977639"/>
            <a:ext cx="82296" cy="224028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4251959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Dorong pembayaran kartu kredit dengan cicilan karena 51.5 persen order sudah terbiasa mencicil, sekaligus pantau kategori berisiko tinggi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4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Liberation Serif"/>
              </a:rPr>
              <a:t>Penutup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2100" b="0" i="0">
                <a:solidFill>
                  <a:srgbClr val="F1E9DA"/>
                </a:solidFill>
                <a:latin typeface="Liberation Serif"/>
              </a:rPr>
              <a:t>Revenue tumbuh 82 persen dalam setahun, namun pertumbuhan dibayangi pengiriman lambat, retensi rendah, dan konsentrasi di satu wilayah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550" b="0" i="0">
                <a:solidFill>
                  <a:srgbClr val="E8DCC8"/>
                </a:solidFill>
                <a:latin typeface="Noto Sans"/>
              </a:rPr>
              <a:t>Analisis SQL dan Python atas 99.441 order ini menghasilkan 4 rekomendasi prioritas: SLA pengiriman, program retensi, diversifikasi geografis, dan optimalisasi pembayaran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526280"/>
            <a:ext cx="1371600" cy="6400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Noto Sans"/>
              </a:rPr>
              <a:t>BAGHIZ ASSHIDDIQIE ARASYA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1E9DA"/>
                </a:solidFill>
                <a:latin typeface="Noto Sans"/>
              </a:rPr>
              <a:t>github.com/baghizash/olist-brazilian-ecommerce-analysis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E8DCC8"/>
                </a:solidFill>
                <a:latin typeface="Noto Sans"/>
              </a:rPr>
              <a:t>Dataset: Brazilian Ecommerce Public Dataset by Olist, lisensi CC BY NC SA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